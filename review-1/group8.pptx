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7"/>
  </p:notesMasterIdLst>
  <p:sldIdLst>
    <p:sldId id="257" r:id="rId2"/>
    <p:sldId id="259" r:id="rId3"/>
    <p:sldId id="258" r:id="rId4"/>
    <p:sldId id="260" r:id="rId5"/>
    <p:sldId id="261" r:id="rId6"/>
    <p:sldId id="267" r:id="rId7"/>
    <p:sldId id="271" r:id="rId8"/>
    <p:sldId id="262" r:id="rId9"/>
    <p:sldId id="263" r:id="rId10"/>
    <p:sldId id="268" r:id="rId11"/>
    <p:sldId id="264" r:id="rId12"/>
    <p:sldId id="265" r:id="rId13"/>
    <p:sldId id="266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5" autoAdjust="0"/>
    <p:restoredTop sz="94660"/>
  </p:normalViewPr>
  <p:slideViewPr>
    <p:cSldViewPr snapToGrid="0">
      <p:cViewPr>
        <p:scale>
          <a:sx n="125" d="100"/>
          <a:sy n="125" d="100"/>
        </p:scale>
        <p:origin x="-2646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963C24-D21D-4FF6-B681-92412B3CF878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D13FC7-2EA2-4BBE-A3EC-5D8165866F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198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13FC7-2EA2-4BBE-A3EC-5D8165866F6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692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467-46C6-4ED4-88DB-F59BC8E63CBD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70DD-D5D0-4779-91D8-D5F5D98F8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896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467-46C6-4ED4-88DB-F59BC8E63CBD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70DD-D5D0-4779-91D8-D5F5D98F8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264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467-46C6-4ED4-88DB-F59BC8E63CBD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70DD-D5D0-4779-91D8-D5F5D98F8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294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467-46C6-4ED4-88DB-F59BC8E63CBD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70DD-D5D0-4779-91D8-D5F5D98F8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752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467-46C6-4ED4-88DB-F59BC8E63CBD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70DD-D5D0-4779-91D8-D5F5D98F87FA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667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467-46C6-4ED4-88DB-F59BC8E63CBD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70DD-D5D0-4779-91D8-D5F5D98F8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809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467-46C6-4ED4-88DB-F59BC8E63CBD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70DD-D5D0-4779-91D8-D5F5D98F8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243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467-46C6-4ED4-88DB-F59BC8E63CBD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70DD-D5D0-4779-91D8-D5F5D98F8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386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9BF5467-46C6-4ED4-88DB-F59BC8E63CBD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70DD-D5D0-4779-91D8-D5F5D98F8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632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467-46C6-4ED4-88DB-F59BC8E63CBD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70DD-D5D0-4779-91D8-D5F5D98F8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718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467-46C6-4ED4-88DB-F59BC8E63CBD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170DD-D5D0-4779-91D8-D5F5D98F8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133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9BF5467-46C6-4ED4-88DB-F59BC8E63CBD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F1A170DD-D5D0-4779-91D8-D5F5D98F8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908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764CC50-F5A9-A8EF-E8B0-1918B9BD10B0}"/>
              </a:ext>
            </a:extLst>
          </p:cNvPr>
          <p:cNvSpPr txBox="1">
            <a:spLocks/>
          </p:cNvSpPr>
          <p:nvPr/>
        </p:nvSpPr>
        <p:spPr>
          <a:xfrm>
            <a:off x="792479" y="758952"/>
            <a:ext cx="10693667" cy="32355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/>
              <a:t>Multi Modal Image Deblurring and Super Resolution</a:t>
            </a:r>
            <a:endParaRPr lang="en-IN" sz="4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8793E6-8E9C-B609-E290-882C77328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756" y="145792"/>
            <a:ext cx="3820887" cy="862685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E9BC2F8A-BA31-FAA3-A061-A6A38C6B0ED6}"/>
              </a:ext>
            </a:extLst>
          </p:cNvPr>
          <p:cNvSpPr txBox="1">
            <a:spLocks/>
          </p:cNvSpPr>
          <p:nvPr/>
        </p:nvSpPr>
        <p:spPr>
          <a:xfrm>
            <a:off x="0" y="1260662"/>
            <a:ext cx="12192000" cy="1483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b="1" baseline="30000" dirty="0"/>
              <a:t>1st</a:t>
            </a:r>
            <a:r>
              <a:rPr lang="en-IN" b="1" dirty="0"/>
              <a:t> review</a:t>
            </a:r>
          </a:p>
          <a:p>
            <a:pPr algn="ctr"/>
            <a:r>
              <a:rPr lang="en-IN" b="1" dirty="0"/>
              <a:t>Mathematics for computing </a:t>
            </a:r>
            <a:r>
              <a:rPr lang="en-IN" b="1" dirty="0" err="1"/>
              <a:t>iV</a:t>
            </a:r>
            <a:endParaRPr lang="en-IN" b="1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2D7DAE0-513A-07D7-B691-CCD1C7C09479}"/>
              </a:ext>
            </a:extLst>
          </p:cNvPr>
          <p:cNvSpPr txBox="1">
            <a:spLocks/>
          </p:cNvSpPr>
          <p:nvPr/>
        </p:nvSpPr>
        <p:spPr>
          <a:xfrm>
            <a:off x="0" y="4455620"/>
            <a:ext cx="12192000" cy="1483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b="1" dirty="0"/>
              <a:t>Group – 8</a:t>
            </a:r>
          </a:p>
          <a:p>
            <a:pPr algn="ctr"/>
            <a:r>
              <a:rPr lang="en-IN" dirty="0"/>
              <a:t>S NIKHIL – CB.SC.U4AIE24351</a:t>
            </a:r>
          </a:p>
          <a:p>
            <a:pPr algn="ctr"/>
            <a:r>
              <a:rPr lang="en-IN" dirty="0"/>
              <a:t>DHYAN B </a:t>
            </a:r>
            <a:r>
              <a:rPr lang="en-IN" dirty="0" err="1"/>
              <a:t>krishnan</a:t>
            </a:r>
            <a:r>
              <a:rPr lang="en-IN" dirty="0"/>
              <a:t> – CB.SC.U4AIE24314 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7A8FF970-64AE-8426-E284-189D845E3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66BD6-F11C-452F-B20A-CCDF06D56E88}" type="datetime1">
              <a:rPr lang="en-IN" smtClean="0"/>
              <a:t>24-01-2026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84F0953-3F38-827C-093B-293D12585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DC4F-E213-490C-A708-2F214EDEAA5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02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DD23F-F146-BFB8-3499-793F9115F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DE9A9-CAC8-7675-0EA3-D85890687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052" y="0"/>
            <a:ext cx="7729728" cy="1188720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14945-407D-CE1F-4885-904BEF92E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FF05-4094-4E4B-BC26-90FC7C232587}" type="slidenum">
              <a:rPr lang="en-IN" smtClean="0"/>
              <a:t>2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579AAA0-C16D-95AD-F9DF-A55F668CB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2" y="1395663"/>
            <a:ext cx="10780295" cy="5117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What is image restoration?</a:t>
            </a:r>
          </a:p>
          <a:p>
            <a:pPr marL="0" indent="0">
              <a:buNone/>
            </a:pPr>
            <a:r>
              <a:rPr lang="en-IN" sz="2400" dirty="0"/>
              <a:t>Image restoration is the process of recovering a clean, high-quality image from a degraded version</a:t>
            </a:r>
          </a:p>
          <a:p>
            <a:pPr marL="0" indent="0">
              <a:buNone/>
            </a:pPr>
            <a:r>
              <a:rPr lang="en-IN" sz="2400" dirty="0"/>
              <a:t>Common Degradations:</a:t>
            </a:r>
          </a:p>
          <a:p>
            <a:pPr marL="342900" indent="-342900">
              <a:buAutoNum type="arabicParenR"/>
            </a:pPr>
            <a:r>
              <a:rPr lang="en-IN" sz="2400" dirty="0"/>
              <a:t>Blur: Camera shake</a:t>
            </a:r>
          </a:p>
          <a:p>
            <a:pPr marL="342900" indent="-342900">
              <a:buAutoNum type="arabicParenR"/>
            </a:pPr>
            <a:r>
              <a:rPr lang="en-IN" sz="2400" dirty="0"/>
              <a:t>Low Resolution: Small sized photo</a:t>
            </a:r>
          </a:p>
          <a:p>
            <a:pPr marL="342900" indent="-342900">
              <a:buAutoNum type="arabicParenR"/>
            </a:pPr>
            <a:r>
              <a:rPr lang="en-IN" sz="2400" dirty="0"/>
              <a:t>Noise: Grainy texture</a:t>
            </a:r>
          </a:p>
          <a:p>
            <a:pPr marL="0" indent="0">
              <a:buNone/>
            </a:pPr>
            <a:r>
              <a:rPr lang="en-IN" sz="2400" dirty="0"/>
              <a:t>This project aims to create a unified a deep learning model that handle both image deblurring and super-resolution.</a:t>
            </a:r>
          </a:p>
        </p:txBody>
      </p:sp>
    </p:spTree>
    <p:extLst>
      <p:ext uri="{BB962C8B-B14F-4D97-AF65-F5344CB8AC3E}">
        <p14:creationId xmlns:p14="http://schemas.microsoft.com/office/powerpoint/2010/main" val="2875130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07CE9-D10B-52F5-A2B1-FE26E9BB8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052" y="0"/>
            <a:ext cx="7729728" cy="1188720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E099A-26DC-FDFA-2B6E-78DAF8700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FF05-4094-4E4B-BC26-90FC7C232587}" type="slidenum">
              <a:rPr lang="en-IN" smtClean="0"/>
              <a:t>3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4D068E-4B8A-5AB8-DCDB-3E8270C61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5"/>
            <a:ext cx="10058400" cy="4311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dirty="0"/>
              <a:t>limitations in image restoration: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36F7ED-93E4-1D29-B88E-9E35744F3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675365"/>
              </p:ext>
            </p:extLst>
          </p:nvPr>
        </p:nvGraphicFramePr>
        <p:xfrm>
          <a:off x="994397" y="2588411"/>
          <a:ext cx="3406273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6273">
                  <a:extLst>
                    <a:ext uri="{9D8B030D-6E8A-4147-A177-3AD203B41FA5}">
                      <a16:colId xmlns:a16="http://schemas.microsoft.com/office/drawing/2014/main" val="491777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Lack of flexibility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559953"/>
                  </a:ext>
                </a:extLst>
              </a:tr>
              <a:tr h="257298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Users need multiple models for different tasks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52230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2FF9D48-24BC-9C6F-8946-ADA5E20E7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354328"/>
              </p:ext>
            </p:extLst>
          </p:nvPr>
        </p:nvGraphicFramePr>
        <p:xfrm>
          <a:off x="4547724" y="2588411"/>
          <a:ext cx="3406273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6273">
                  <a:extLst>
                    <a:ext uri="{9D8B030D-6E8A-4147-A177-3AD203B41FA5}">
                      <a16:colId xmlns:a16="http://schemas.microsoft.com/office/drawing/2014/main" val="491777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Mysterious Nature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559953"/>
                  </a:ext>
                </a:extLst>
              </a:tr>
              <a:tr h="257298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Cannot understand how the model makes decisions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52230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A5E4091-714A-B365-8B0F-0F5216405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65490"/>
              </p:ext>
            </p:extLst>
          </p:nvPr>
        </p:nvGraphicFramePr>
        <p:xfrm>
          <a:off x="8068966" y="2588411"/>
          <a:ext cx="3406273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6273">
                  <a:extLst>
                    <a:ext uri="{9D8B030D-6E8A-4147-A177-3AD203B41FA5}">
                      <a16:colId xmlns:a16="http://schemas.microsoft.com/office/drawing/2014/main" val="491777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Poor Generalization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559953"/>
                  </a:ext>
                </a:extLst>
              </a:tr>
              <a:tr h="257298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Models trained for one blur type fail on others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522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6421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CCF2F-C201-4B18-146A-51CF79CF3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CC4A9-BE04-122D-4DEE-164BD250F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052" y="0"/>
            <a:ext cx="7729728" cy="1188720"/>
          </a:xfrm>
        </p:spPr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C54F1-AF48-6AD7-CC5B-801FEA8E6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FF05-4094-4E4B-BC26-90FC7C232587}" type="slidenum">
              <a:rPr lang="en-IN" smtClean="0"/>
              <a:t>4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6213A92-B7A2-2D1D-319C-D3F7787A8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2" y="1395663"/>
            <a:ext cx="10780295" cy="5117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Develop a unified deep learning framework that combines:</a:t>
            </a:r>
          </a:p>
          <a:p>
            <a:pPr>
              <a:buFontTx/>
              <a:buChar char="-"/>
            </a:pPr>
            <a:r>
              <a:rPr lang="en-IN" sz="2400" dirty="0"/>
              <a:t>Optimization (using ADMM)</a:t>
            </a:r>
          </a:p>
          <a:p>
            <a:pPr>
              <a:buFontTx/>
              <a:buChar char="-"/>
            </a:pPr>
            <a:r>
              <a:rPr lang="en-IN" sz="2400" dirty="0"/>
              <a:t>Deep neural networks (using CNNs)</a:t>
            </a:r>
          </a:p>
          <a:p>
            <a:pPr marL="0" indent="0">
              <a:buNone/>
            </a:pPr>
            <a:r>
              <a:rPr lang="en-IN" sz="2400" dirty="0"/>
              <a:t>To perform multi-modal image restoration tasks within a single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FF3E85-11BD-1F19-AB77-CE83A16E1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121" y="3792621"/>
            <a:ext cx="4598068" cy="30653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46CA70-5C57-AA37-C671-C4FA86F661C7}"/>
              </a:ext>
            </a:extLst>
          </p:cNvPr>
          <p:cNvSpPr txBox="1"/>
          <p:nvPr/>
        </p:nvSpPr>
        <p:spPr>
          <a:xfrm>
            <a:off x="4434840" y="6211669"/>
            <a:ext cx="1159292" cy="64633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BLURRED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 IMAGE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0B73BE-4547-847B-5A49-43BBFAA94630}"/>
              </a:ext>
            </a:extLst>
          </p:cNvPr>
          <p:cNvSpPr txBox="1"/>
          <p:nvPr/>
        </p:nvSpPr>
        <p:spPr>
          <a:xfrm>
            <a:off x="6328591" y="6211669"/>
            <a:ext cx="1955985" cy="64633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DEBLURRED + SR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 IMAGE</a:t>
            </a:r>
          </a:p>
        </p:txBody>
      </p:sp>
    </p:spTree>
    <p:extLst>
      <p:ext uri="{BB962C8B-B14F-4D97-AF65-F5344CB8AC3E}">
        <p14:creationId xmlns:p14="http://schemas.microsoft.com/office/powerpoint/2010/main" val="658610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5A377-1C9F-4D31-2377-5ECA3EABF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5BC9D-DE3C-5B25-511F-863FB4BE0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052" y="0"/>
            <a:ext cx="7729728" cy="1188720"/>
          </a:xfrm>
        </p:spPr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6247D-00D1-17F9-4188-946A427A1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FF05-4094-4E4B-BC26-90FC7C232587}" type="slidenum">
              <a:rPr lang="en-IN" smtClean="0"/>
              <a:t>5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27D78B6-ADE1-B49E-F983-3E09A19DF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2" y="1395663"/>
            <a:ext cx="10780295" cy="5117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Paper: </a:t>
            </a:r>
            <a:r>
              <a:rPr lang="en-US" sz="24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Neue Regular"/>
              </a:rPr>
              <a:t>Deep Unfolding Network for Image Super-Resolution</a:t>
            </a:r>
          </a:p>
          <a:p>
            <a:pPr marL="0" indent="0">
              <a:buNone/>
            </a:pPr>
            <a:r>
              <a:rPr lang="en-IN" sz="2400" dirty="0"/>
              <a:t>Published: </a:t>
            </a:r>
            <a:r>
              <a:rPr lang="en-US" sz="2400" dirty="0"/>
              <a:t>2020 IEEE/CVF Conference on Computer Vision and Pattern Recognition (CVPR)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US" sz="2400" dirty="0"/>
              <a:t>This paper proposes a unified deep learning framework that combines ADMM optimization with neural networks to perform both image deblurring and multi-scale super-resolution (2×, 3×, 4×) using a single end-to-end trainable model. By unfolding the optimization algorithm into an interpretable network architecture, this approach achieves the flexibility of traditional mathematical methods and the performance of modern deep learning.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15102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89F44-DA36-BCD1-B11C-C032FC7BD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6CDB9-1E45-27A2-D8CA-865E36D14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052" y="0"/>
            <a:ext cx="7729728" cy="1188720"/>
          </a:xfrm>
        </p:spPr>
        <p:txBody>
          <a:bodyPr/>
          <a:lstStyle/>
          <a:p>
            <a:r>
              <a:rPr lang="en-IN" dirty="0"/>
              <a:t>WORKFLOW (Network architecture)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4784E-8CFA-DA26-CF18-AD690CEA1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FF05-4094-4E4B-BC26-90FC7C232587}" type="slidenum">
              <a:rPr lang="en-IN" smtClean="0"/>
              <a:t>6</a:t>
            </a:fld>
            <a:endParaRPr lang="en-IN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0E0764F-5138-D3E7-92BE-7A8339935F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752" y="1339014"/>
            <a:ext cx="5666899" cy="5358244"/>
          </a:xfrm>
        </p:spPr>
      </p:pic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87AF5541-DB48-A9DF-869B-324337F79D0E}"/>
              </a:ext>
            </a:extLst>
          </p:cNvPr>
          <p:cNvSpPr txBox="1">
            <a:spLocks/>
          </p:cNvSpPr>
          <p:nvPr/>
        </p:nvSpPr>
        <p:spPr>
          <a:xfrm>
            <a:off x="0" y="5449824"/>
            <a:ext cx="3866147" cy="765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dirty="0"/>
              <a:t>Figure-1:  Workflow Diagram For Proposed Model</a:t>
            </a:r>
          </a:p>
        </p:txBody>
      </p:sp>
    </p:spTree>
    <p:extLst>
      <p:ext uri="{BB962C8B-B14F-4D97-AF65-F5344CB8AC3E}">
        <p14:creationId xmlns:p14="http://schemas.microsoft.com/office/powerpoint/2010/main" val="3342699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41C66-2135-4536-F3CE-CB781DCEF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6D1FE-5D3F-E4CD-9F03-A4B1C1DC3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052" y="0"/>
            <a:ext cx="7729728" cy="1188720"/>
          </a:xfrm>
        </p:spPr>
        <p:txBody>
          <a:bodyPr/>
          <a:lstStyle/>
          <a:p>
            <a:r>
              <a:rPr lang="en-IN" dirty="0"/>
              <a:t>WORKFLOW (Network architecture)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71B49-852C-5D00-44B5-8F5836032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FF05-4094-4E4B-BC26-90FC7C232587}" type="slidenum">
              <a:rPr lang="en-IN" smtClean="0"/>
              <a:t>7</a:t>
            </a:fld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32D4CA-952D-7B2F-3B38-6B65D15FF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49824"/>
            <a:ext cx="12192000" cy="765691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/>
              <a:t>Figure-2: HR estimation in different iterations of </a:t>
            </a:r>
            <a:r>
              <a:rPr lang="en-IN" dirty="0" err="1"/>
              <a:t>USRNet</a:t>
            </a:r>
            <a:r>
              <a:rPr lang="en-IN" dirty="0"/>
              <a:t> (top row) and USRGAN (bottom row).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115387-DCDF-0049-CA6D-88935AF38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8698"/>
            <a:ext cx="12192000" cy="380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220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CFB0A-2D33-4A98-9100-BFE329AAD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CAC3E-0BF2-8D29-A584-E5901096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052" y="0"/>
            <a:ext cx="7729728" cy="1188720"/>
          </a:xfrm>
        </p:spPr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F4400-0D5B-B11B-CC71-7FCC8403E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FF05-4094-4E4B-BC26-90FC7C232587}" type="slidenum">
              <a:rPr lang="en-IN" smtClean="0"/>
              <a:t>8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A5CC52-2428-C2D9-288B-2E4C01FF5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2" y="1395663"/>
            <a:ext cx="10780295" cy="5117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Image degradation model formulation: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Where :-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D9AAC75-7058-7A5C-E9A9-638FCD1F47E6}"/>
                  </a:ext>
                </a:extLst>
              </p:cNvPr>
              <p:cNvSpPr txBox="1"/>
              <p:nvPr/>
            </p:nvSpPr>
            <p:spPr>
              <a:xfrm>
                <a:off x="5180076" y="1961388"/>
                <a:ext cx="19094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⊗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IN" dirty="0"/>
                            <m:t>↓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D9AAC75-7058-7A5C-E9A9-638FCD1F4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0076" y="1961388"/>
                <a:ext cx="1909433" cy="276999"/>
              </a:xfrm>
              <a:prstGeom prst="rect">
                <a:avLst/>
              </a:prstGeom>
              <a:blipFill>
                <a:blip r:embed="rId2"/>
                <a:stretch>
                  <a:fillRect l="-2236" r="-958" b="-3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2C3BDE-8805-DC0D-D0B6-36E5EEFB5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086329"/>
              </p:ext>
            </p:extLst>
          </p:nvPr>
        </p:nvGraphicFramePr>
        <p:xfrm>
          <a:off x="1582820" y="2814320"/>
          <a:ext cx="8860592" cy="4043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15148">
                  <a:extLst>
                    <a:ext uri="{9D8B030D-6E8A-4147-A177-3AD203B41FA5}">
                      <a16:colId xmlns:a16="http://schemas.microsoft.com/office/drawing/2014/main" val="200392201"/>
                    </a:ext>
                  </a:extLst>
                </a:gridCol>
                <a:gridCol w="2215148">
                  <a:extLst>
                    <a:ext uri="{9D8B030D-6E8A-4147-A177-3AD203B41FA5}">
                      <a16:colId xmlns:a16="http://schemas.microsoft.com/office/drawing/2014/main" val="543096270"/>
                    </a:ext>
                  </a:extLst>
                </a:gridCol>
                <a:gridCol w="2215148">
                  <a:extLst>
                    <a:ext uri="{9D8B030D-6E8A-4147-A177-3AD203B41FA5}">
                      <a16:colId xmlns:a16="http://schemas.microsoft.com/office/drawing/2014/main" val="413445523"/>
                    </a:ext>
                  </a:extLst>
                </a:gridCol>
                <a:gridCol w="2215148">
                  <a:extLst>
                    <a:ext uri="{9D8B030D-6E8A-4147-A177-3AD203B41FA5}">
                      <a16:colId xmlns:a16="http://schemas.microsoft.com/office/drawing/2014/main" val="4205426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754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HR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The perfect photo we want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512x512 sharp cat photo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238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LR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The bad photo we have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128x128 blurry cat photo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768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Blur kernel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Pattern of how it blurred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25x25 motion blur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604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Convolution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Applying the blur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Like smudging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754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↓ₛ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Downsampling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Making it smaller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Keep 1 out of every </a:t>
                      </a:r>
                      <a:r>
                        <a:rPr lang="en-IN" dirty="0" err="1"/>
                        <a:t>sxs</a:t>
                      </a:r>
                      <a:r>
                        <a:rPr lang="en-IN" dirty="0"/>
                        <a:t> pixels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20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Random grain/dots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Camera sensor noise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660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Scale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How much smaller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S=4 means 4x smaller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058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038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F0BE4-C01B-9CC7-ABFE-D6A4E5AC4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E705F-9E20-F227-F3A3-A184045CE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052" y="0"/>
            <a:ext cx="7729728" cy="1188720"/>
          </a:xfrm>
        </p:spPr>
        <p:txBody>
          <a:bodyPr/>
          <a:lstStyle/>
          <a:p>
            <a:r>
              <a:rPr lang="en-IN" dirty="0"/>
              <a:t>Methodology (Energy function)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F7343-6824-8758-A0F5-BAA731912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FF05-4094-4E4B-BC26-90FC7C232587}" type="slidenum">
              <a:rPr lang="en-IN" smtClean="0"/>
              <a:t>9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5C57A5D-56AE-3A8C-6CFF-A4C5880B0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3" y="1395663"/>
            <a:ext cx="4716380" cy="5117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The main problem:</a:t>
            </a:r>
          </a:p>
          <a:p>
            <a:pPr marL="0" indent="0">
              <a:buNone/>
            </a:pPr>
            <a:r>
              <a:rPr lang="en-IN" sz="2400" dirty="0"/>
              <a:t> Direct Inversion Doesn’t Work.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We have: </a:t>
            </a:r>
          </a:p>
          <a:p>
            <a:pPr marL="0" indent="0">
              <a:buNone/>
            </a:pPr>
            <a:r>
              <a:rPr lang="en-IN" sz="2400" dirty="0"/>
              <a:t>y = (x ⊗ k)↓s + n</a:t>
            </a:r>
          </a:p>
          <a:p>
            <a:pPr marL="0" indent="0">
              <a:buNone/>
            </a:pPr>
            <a:r>
              <a:rPr lang="en-IN" sz="2400" dirty="0"/>
              <a:t>We want: </a:t>
            </a:r>
          </a:p>
          <a:p>
            <a:pPr marL="0" indent="0">
              <a:buNone/>
            </a:pPr>
            <a:r>
              <a:rPr lang="en-IN" sz="2400" dirty="0"/>
              <a:t>x = ???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What if we reverse it:</a:t>
            </a:r>
          </a:p>
          <a:p>
            <a:pPr marL="0" indent="0">
              <a:buNone/>
            </a:pPr>
            <a:r>
              <a:rPr lang="en-IN" sz="2400" dirty="0"/>
              <a:t>x = [(y - n)↑s] ⊗ k⁻¹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0C5E028F-0B14-3BE0-77D4-651F2D3E409D}"/>
              </a:ext>
            </a:extLst>
          </p:cNvPr>
          <p:cNvSpPr txBox="1">
            <a:spLocks/>
          </p:cNvSpPr>
          <p:nvPr/>
        </p:nvSpPr>
        <p:spPr>
          <a:xfrm>
            <a:off x="5959642" y="1403685"/>
            <a:ext cx="4716380" cy="5117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Problems: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IN" sz="2400" dirty="0"/>
              <a:t>We don’t know n (noise is random)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IN" sz="2400" dirty="0"/>
              <a:t>k⁻¹ doesn’t exist (deconvolution is ill-posed)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IN" sz="2400" dirty="0"/>
              <a:t>↑s loses information (which pixels to fill)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IN" sz="2400" dirty="0"/>
              <a:t>Multiple x can give same y (infinite solutions)</a:t>
            </a:r>
          </a:p>
        </p:txBody>
      </p:sp>
    </p:spTree>
    <p:extLst>
      <p:ext uri="{BB962C8B-B14F-4D97-AF65-F5344CB8AC3E}">
        <p14:creationId xmlns:p14="http://schemas.microsoft.com/office/powerpoint/2010/main" val="2227818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9F132-C0E2-63CB-D665-5FC4445FC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9CF24-FED6-0897-AAA3-D2ECAEE5F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052" y="0"/>
            <a:ext cx="7729728" cy="1188720"/>
          </a:xfrm>
        </p:spPr>
        <p:txBody>
          <a:bodyPr/>
          <a:lstStyle/>
          <a:p>
            <a:r>
              <a:rPr lang="en-IN" dirty="0"/>
              <a:t>Methodology (Energy function)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E2F03-DED5-9453-A19F-EB23A62F8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FF05-4094-4E4B-BC26-90FC7C232587}" type="slidenum">
              <a:rPr lang="en-IN" smtClean="0"/>
              <a:t>10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30A63E6-9B48-B57B-A9CF-786195942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2" y="1491916"/>
            <a:ext cx="10780295" cy="502117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400" dirty="0"/>
              <a:t>Therefore instead of direct inversion, we define what “good” image means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>
                <a:solidFill>
                  <a:srgbClr val="C00000"/>
                </a:solidFill>
              </a:rPr>
              <a:t>Data Term </a:t>
            </a:r>
            <a:r>
              <a:rPr lang="en-IN" sz="2400" dirty="0"/>
              <a:t>(clearer estimate)</a:t>
            </a:r>
          </a:p>
          <a:p>
            <a:r>
              <a:rPr lang="en-IN" sz="2400" dirty="0"/>
              <a:t>Enforces the degradation model.</a:t>
            </a:r>
          </a:p>
          <a:p>
            <a:r>
              <a:rPr lang="en-IN" sz="2400" dirty="0"/>
              <a:t>Ensures consistency with the observed data y.</a:t>
            </a:r>
          </a:p>
          <a:p>
            <a:r>
              <a:rPr lang="en-IN" sz="2400" dirty="0"/>
              <a:t>Uses known blur </a:t>
            </a:r>
            <a:r>
              <a:rPr lang="en-IN" sz="2400" b="1" i="1" dirty="0"/>
              <a:t>k</a:t>
            </a:r>
            <a:r>
              <a:rPr lang="en-IN" sz="2400" dirty="0"/>
              <a:t> and scale </a:t>
            </a:r>
            <a:r>
              <a:rPr lang="en-IN" sz="2400" b="1" i="1" dirty="0"/>
              <a:t>s</a:t>
            </a:r>
            <a:r>
              <a:rPr lang="en-IN" sz="2400" i="1" dirty="0"/>
              <a:t>.</a:t>
            </a:r>
          </a:p>
          <a:p>
            <a:endParaRPr lang="en-IN" sz="2400" b="1" i="1" dirty="0"/>
          </a:p>
          <a:p>
            <a:pPr marL="0" indent="0">
              <a:buNone/>
            </a:pPr>
            <a:r>
              <a:rPr lang="en-IN" sz="2400" dirty="0">
                <a:solidFill>
                  <a:srgbClr val="00B050"/>
                </a:solidFill>
              </a:rPr>
              <a:t>Prior Term </a:t>
            </a:r>
            <a:r>
              <a:rPr lang="en-IN" sz="2400" dirty="0"/>
              <a:t>(cleaner estimate)</a:t>
            </a:r>
          </a:p>
          <a:p>
            <a:r>
              <a:rPr lang="en-IN" sz="2400" dirty="0"/>
              <a:t>Enforces natural image characteristics.</a:t>
            </a:r>
          </a:p>
          <a:p>
            <a:r>
              <a:rPr lang="en-IN" sz="2400" dirty="0"/>
              <a:t>Removes noise and artifacts.</a:t>
            </a:r>
          </a:p>
          <a:p>
            <a:r>
              <a:rPr lang="en-IN" sz="2400" dirty="0"/>
              <a:t>Adds realistic details.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9302FF-E5BA-F1CB-3FD8-B35251D9D828}"/>
                  </a:ext>
                </a:extLst>
              </p:cNvPr>
              <p:cNvSpPr txBox="1"/>
              <p:nvPr/>
            </p:nvSpPr>
            <p:spPr>
              <a:xfrm>
                <a:off x="4497643" y="1993793"/>
                <a:ext cx="21932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𝐷𝑎𝑡𝑎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𝑃𝑟𝑖𝑜𝑟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9302FF-E5BA-F1CB-3FD8-B35251D9D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7643" y="1993793"/>
                <a:ext cx="2193229" cy="276999"/>
              </a:xfrm>
              <a:prstGeom prst="rect">
                <a:avLst/>
              </a:prstGeom>
              <a:blipFill>
                <a:blip r:embed="rId3"/>
                <a:stretch>
                  <a:fillRect l="-1944" r="-1944" b="-86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67A515-D7F7-BF70-ED4E-6B0D8B196C5D}"/>
                  </a:ext>
                </a:extLst>
              </p:cNvPr>
              <p:cNvSpPr txBox="1"/>
              <p:nvPr/>
            </p:nvSpPr>
            <p:spPr>
              <a:xfrm>
                <a:off x="3610837" y="2371263"/>
                <a:ext cx="4166269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I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IN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IN" i="0">
                                          <a:latin typeface="Cambria Math" panose="02040503050406030204" pitchFamily="18" charset="0"/>
                                        </a:rPr>
                                        <m:t>⊗</m:t>
                                      </m:r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m:rPr>
                                      <m:nor/>
                                    </m:rPr>
                                    <a:rPr lang="en-IN" dirty="0"/>
                                    <m:t>↓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𝜆𝜙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67A515-D7F7-BF70-ED4E-6B0D8B196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837" y="2371263"/>
                <a:ext cx="4166269" cy="6223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DA315461-C025-BDEE-6D29-A4762D65742A}"/>
              </a:ext>
            </a:extLst>
          </p:cNvPr>
          <p:cNvSpPr/>
          <p:nvPr/>
        </p:nvSpPr>
        <p:spPr>
          <a:xfrm>
            <a:off x="5276088" y="1920240"/>
            <a:ext cx="576072" cy="39319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F37094-811C-0301-AB79-DFA3B042590D}"/>
              </a:ext>
            </a:extLst>
          </p:cNvPr>
          <p:cNvSpPr/>
          <p:nvPr/>
        </p:nvSpPr>
        <p:spPr>
          <a:xfrm>
            <a:off x="6086856" y="1917192"/>
            <a:ext cx="576072" cy="393192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7D520E-904D-8BC7-B77D-CA034A7E06DD}"/>
              </a:ext>
            </a:extLst>
          </p:cNvPr>
          <p:cNvSpPr/>
          <p:nvPr/>
        </p:nvSpPr>
        <p:spPr>
          <a:xfrm>
            <a:off x="4440936" y="2368296"/>
            <a:ext cx="2444496" cy="64008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4BFEEC-2FA8-D719-233C-75C6A04C9C3C}"/>
              </a:ext>
            </a:extLst>
          </p:cNvPr>
          <p:cNvSpPr/>
          <p:nvPr/>
        </p:nvSpPr>
        <p:spPr>
          <a:xfrm>
            <a:off x="7117080" y="2368296"/>
            <a:ext cx="609600" cy="64922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24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9C9B0-1019-F6E2-EBEF-F9913FDCE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6F2CE-22DE-7B60-93EC-FA5E9BE42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052" y="0"/>
            <a:ext cx="7729728" cy="1188720"/>
          </a:xfrm>
        </p:spPr>
        <p:txBody>
          <a:bodyPr/>
          <a:lstStyle/>
          <a:p>
            <a:r>
              <a:rPr lang="en-IN" dirty="0"/>
              <a:t>Methodology (Modified energy function)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FF9D4-133D-5367-CF53-96210D8B4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FF05-4094-4E4B-BC26-90FC7C232587}" type="slidenum">
              <a:rPr lang="en-IN" smtClean="0"/>
              <a:t>11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79A62C6-F5B4-E3C4-2732-D030B44AC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2" y="1395663"/>
            <a:ext cx="10780295" cy="5117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To minimize E(x), we need to minimize both terms simultaneously (Data term &amp; Prior term) but they are coupled (both depend on x), cant solve one term without affecting the other.</a:t>
            </a:r>
          </a:p>
          <a:p>
            <a:pPr marL="0" indent="0">
              <a:buNone/>
            </a:pPr>
            <a:r>
              <a:rPr lang="en-IN" sz="2400" dirty="0"/>
              <a:t>Introduce auxiliary variable z to decouple the problem: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Where :-</a:t>
            </a:r>
          </a:p>
          <a:p>
            <a:r>
              <a:rPr lang="en-IN" sz="2400" dirty="0"/>
              <a:t>z: Auxiliary variable</a:t>
            </a:r>
          </a:p>
          <a:p>
            <a:r>
              <a:rPr lang="el-GR" sz="2400" dirty="0"/>
              <a:t>μ</a:t>
            </a:r>
            <a:r>
              <a:rPr lang="en-IN" sz="2400" dirty="0"/>
              <a:t>: Penalty parameter</a:t>
            </a:r>
          </a:p>
          <a:p>
            <a:pPr marL="0" indent="0">
              <a:buNone/>
            </a:pPr>
            <a:endParaRPr lang="en-I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09E850-5604-CE37-366F-A08CBE01C61F}"/>
                  </a:ext>
                </a:extLst>
              </p:cNvPr>
              <p:cNvSpPr txBox="1"/>
              <p:nvPr/>
            </p:nvSpPr>
            <p:spPr>
              <a:xfrm>
                <a:off x="3019446" y="3163183"/>
                <a:ext cx="5879174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I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IN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IN" i="0">
                                          <a:latin typeface="Cambria Math" panose="02040503050406030204" pitchFamily="18" charset="0"/>
                                        </a:rPr>
                                        <m:t>⊗</m:t>
                                      </m:r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𝜆𝜙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09E850-5604-CE37-366F-A08CBE01C6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446" y="3163183"/>
                <a:ext cx="5879174" cy="6223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D94264F3-AD93-24C4-8E7E-93F590549853}"/>
              </a:ext>
            </a:extLst>
          </p:cNvPr>
          <p:cNvSpPr/>
          <p:nvPr/>
        </p:nvSpPr>
        <p:spPr>
          <a:xfrm>
            <a:off x="4093464" y="3163824"/>
            <a:ext cx="2362200" cy="64008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3F7D48-4339-D7C6-11A4-DCC0B9817EFF}"/>
              </a:ext>
            </a:extLst>
          </p:cNvPr>
          <p:cNvSpPr/>
          <p:nvPr/>
        </p:nvSpPr>
        <p:spPr>
          <a:xfrm>
            <a:off x="6693408" y="3163824"/>
            <a:ext cx="630936" cy="64922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774367-B595-AAF7-AAD6-A8681F697AFC}"/>
              </a:ext>
            </a:extLst>
          </p:cNvPr>
          <p:cNvSpPr/>
          <p:nvPr/>
        </p:nvSpPr>
        <p:spPr>
          <a:xfrm>
            <a:off x="7586472" y="3169920"/>
            <a:ext cx="1264920" cy="64922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67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5C3F5-983D-DEA9-526A-0C57A58E9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6C780-E66B-0D3A-FB6E-EC1CBE60E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052" y="0"/>
            <a:ext cx="7729728" cy="1188720"/>
          </a:xfrm>
        </p:spPr>
        <p:txBody>
          <a:bodyPr/>
          <a:lstStyle/>
          <a:p>
            <a:r>
              <a:rPr lang="en-IN" dirty="0"/>
              <a:t>Methodology (ADMM Steps)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D7136-FC9C-DDBF-9182-D6886ADB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FF05-4094-4E4B-BC26-90FC7C232587}" type="slidenum">
              <a:rPr lang="en-IN" smtClean="0"/>
              <a:t>12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331BC04-94B9-16C3-A19A-EF06D8510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2" y="1395663"/>
            <a:ext cx="10780295" cy="51174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dirty="0"/>
              <a:t>subproblem 1: Data term (z update) solved using FFT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Where</a:t>
            </a:r>
            <a:r>
              <a:rPr lang="en-US" sz="2400" b="1" dirty="0"/>
              <a:t> :-</a:t>
            </a:r>
          </a:p>
          <a:p>
            <a:r>
              <a:rPr lang="en-US" sz="2400" dirty="0"/>
              <a:t>F, F⁻¹: Fast Fourier Transform and inverse</a:t>
            </a:r>
          </a:p>
          <a:p>
            <a:r>
              <a:rPr lang="en-US" sz="2400" dirty="0"/>
              <a:t>F̄(k): Complex conjugate</a:t>
            </a:r>
          </a:p>
          <a:p>
            <a:r>
              <a:rPr lang="en-US" sz="2400" dirty="0"/>
              <a:t>⊙ₛ: Distinct block processing (element-wise on </a:t>
            </a:r>
            <a:r>
              <a:rPr lang="en-US" sz="2400" dirty="0" err="1"/>
              <a:t>s×s</a:t>
            </a:r>
            <a:r>
              <a:rPr lang="en-US" sz="2400" dirty="0"/>
              <a:t> blocks)</a:t>
            </a:r>
          </a:p>
          <a:p>
            <a:r>
              <a:rPr lang="en-US" sz="2400" dirty="0"/>
              <a:t>αₖ = μₖσ²: </a:t>
            </a:r>
            <a:r>
              <a:rPr lang="en-IN" sz="2400" dirty="0"/>
              <a:t>Controls data module</a:t>
            </a:r>
            <a:endParaRPr lang="en-US" sz="2400" dirty="0"/>
          </a:p>
          <a:p>
            <a:r>
              <a:rPr lang="en-IN" sz="2400" dirty="0"/>
              <a:t>d = F(k)F(y↑ₛ) + </a:t>
            </a:r>
            <a:r>
              <a:rPr lang="el-GR" sz="2400" dirty="0"/>
              <a:t>α</a:t>
            </a:r>
            <a:r>
              <a:rPr lang="en-IN" sz="2400" dirty="0"/>
              <a:t>ₖF(x^(k-1)): Intermediate variable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36A520-52CE-F3E5-2F7D-DABB065C908D}"/>
                  </a:ext>
                </a:extLst>
              </p:cNvPr>
              <p:cNvSpPr txBox="1"/>
              <p:nvPr/>
            </p:nvSpPr>
            <p:spPr>
              <a:xfrm>
                <a:off x="3031236" y="2253996"/>
                <a:ext cx="6014082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arg</m:t>
                      </m:r>
                      <m:func>
                        <m:func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IN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I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en-IN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IN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  <m:sSup>
                                <m:sSupPr>
                                  <m:ctrlPr>
                                    <a:rPr lang="en-I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IN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IN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d>
                                            <m:dPr>
                                              <m:ctrlPr>
                                                <a:rPr lang="en-IN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IN" i="1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  <m:r>
                                                <a:rPr lang="en-IN">
                                                  <a:latin typeface="Cambria Math" panose="02040503050406030204" pitchFamily="18" charset="0"/>
                                                </a:rPr>
                                                <m:t>⊗</m:t>
                                              </m:r>
                                              <m:r>
                                                <a:rPr lang="en-IN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𝒌</m:t>
                                              </m:r>
                                            </m:e>
                                          </m:d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I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IN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IN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sSup>
                                <m:sSupPr>
                                  <m:ctrlPr>
                                    <a:rPr lang="en-I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IN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IN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IN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IN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IN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  <m:r>
                                                <a:rPr lang="en-IN"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IN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36A520-52CE-F3E5-2F7D-DABB065C9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236" y="2253996"/>
                <a:ext cx="6014082" cy="6223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0A7479-9F70-9668-32AE-700C46390D63}"/>
                  </a:ext>
                </a:extLst>
              </p:cNvPr>
              <p:cNvSpPr txBox="1"/>
              <p:nvPr/>
            </p:nvSpPr>
            <p:spPr>
              <a:xfrm>
                <a:off x="2424684" y="2970276"/>
                <a:ext cx="7572756" cy="10346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bar>
                                <m:barPr>
                                  <m:pos m:val="top"/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ℱ</m:t>
                                  </m:r>
                                  <m:d>
                                    <m:d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𝒌</m:t>
                                      </m:r>
                                    </m:e>
                                  </m:d>
                                </m:e>
                              </m:ba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⊙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ℱ</m:t>
                                      </m:r>
                                      <m:d>
                                        <m:d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IN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e>
                                      </m:d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⇓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num>
                                <m:den>
                                  <m:d>
                                    <m:d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bar>
                                        <m:barPr>
                                          <m:pos m:val="top"/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ℱ</m:t>
                                          </m:r>
                                          <m:d>
                                            <m:dPr>
                                              <m:ctrlPr>
                                                <a:rPr lang="en-IN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IN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𝒌</m:t>
                                              </m:r>
                                            </m:e>
                                          </m:d>
                                        </m:e>
                                      </m:bar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ℱ</m:t>
                                      </m:r>
                                      <m:d>
                                        <m:d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IN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e>
                                      </m:d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⇓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0A7479-9F70-9668-32AE-700C46390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4684" y="2970276"/>
                <a:ext cx="7572756" cy="10346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0096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B2984-8D82-B1C7-2186-E7F410CC8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14742-F960-AF3F-7975-CF20A9118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052" y="0"/>
            <a:ext cx="7729728" cy="1188720"/>
          </a:xfrm>
        </p:spPr>
        <p:txBody>
          <a:bodyPr/>
          <a:lstStyle/>
          <a:p>
            <a:r>
              <a:rPr lang="en-IN" dirty="0"/>
              <a:t>Methodology (ADMM Steps)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BB7EE-45DA-3578-F8F1-CF7019A7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FF05-4094-4E4B-BC26-90FC7C232587}" type="slidenum">
              <a:rPr lang="en-IN" smtClean="0"/>
              <a:t>13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8A3CB72-2D4B-69F9-F650-B34D334F6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2" y="1395663"/>
            <a:ext cx="10780295" cy="5117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subproblem 2: Prior term (x update), solved using CNN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Where :-</a:t>
            </a:r>
          </a:p>
          <a:p>
            <a:r>
              <a:rPr lang="fr-FR" sz="2400" dirty="0"/>
              <a:t>βₖ = λ/μₖ: </a:t>
            </a:r>
            <a:r>
              <a:rPr lang="en-IN" sz="2400" dirty="0"/>
              <a:t>Controls prior module</a:t>
            </a:r>
          </a:p>
          <a:p>
            <a:r>
              <a:rPr lang="en-US" sz="2400" dirty="0"/>
              <a:t>Denoiser: solved by CNN</a:t>
            </a: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C47990-7964-E2A4-80B1-FA6C43A51DF6}"/>
                  </a:ext>
                </a:extLst>
              </p:cNvPr>
              <p:cNvSpPr txBox="1"/>
              <p:nvPr/>
            </p:nvSpPr>
            <p:spPr>
              <a:xfrm>
                <a:off x="4302252" y="2391156"/>
                <a:ext cx="4081374" cy="4706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IN" i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  <m:d>
                            <m:dPr>
                              <m:begChr m:val="["/>
                              <m:endChr m:val="]"/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I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IN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IN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sSup>
                                <m:sSupPr>
                                  <m:ctrlPr>
                                    <a:rPr lang="en-I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IN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IN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p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  <m:r>
                                        <a:rPr lang="en-IN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𝜆𝜙</m:t>
                              </m:r>
                              <m:d>
                                <m:dPr>
                                  <m:ctrlPr>
                                    <a:rPr lang="en-I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C47990-7964-E2A4-80B1-FA6C43A51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2252" y="2391156"/>
                <a:ext cx="4081374" cy="4706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756C9A-5921-B6FE-7622-39A7AFBD9586}"/>
                  </a:ext>
                </a:extLst>
              </p:cNvPr>
              <p:cNvSpPr txBox="1"/>
              <p:nvPr/>
            </p:nvSpPr>
            <p:spPr>
              <a:xfrm>
                <a:off x="5052060" y="3095244"/>
                <a:ext cx="2281458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Denoiser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756C9A-5921-B6FE-7622-39A7AFBD9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060" y="3095244"/>
                <a:ext cx="2281458" cy="312650"/>
              </a:xfrm>
              <a:prstGeom prst="rect">
                <a:avLst/>
              </a:prstGeom>
              <a:blipFill>
                <a:blip r:embed="rId3"/>
                <a:stretch>
                  <a:fillRect l="-535" b="-274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9464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6A486-CF43-5636-B295-31E5B560C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AF568-A33E-4D86-0962-DE6EAAB2E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052" y="0"/>
            <a:ext cx="7729728" cy="1188720"/>
          </a:xfrm>
        </p:spPr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CC62C-7E0E-DA64-928C-FF1FB893C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CFF05-4094-4E4B-BC26-90FC7C232587}" type="slidenum">
              <a:rPr lang="en-IN" smtClean="0"/>
              <a:t>14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B49584-2FEC-DDA2-2D4A-D5FB65385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015" y="1395663"/>
            <a:ext cx="8723698" cy="511743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000" b="1" dirty="0"/>
              <a:t>[1] Deep Unfolding Network for Image Super-Resolution</a:t>
            </a:r>
            <a:br>
              <a:rPr lang="en-IN" sz="2000" dirty="0"/>
            </a:br>
            <a:r>
              <a:rPr lang="en-IN" sz="2000" dirty="0"/>
              <a:t>Kai Zhang, Luc Van Gool, Radu </a:t>
            </a:r>
            <a:r>
              <a:rPr lang="en-IN" sz="2000" dirty="0" err="1"/>
              <a:t>Timofte</a:t>
            </a:r>
            <a:br>
              <a:rPr lang="en-IN" sz="2000" dirty="0"/>
            </a:br>
            <a:r>
              <a:rPr lang="en-IN" sz="2000" i="1" dirty="0"/>
              <a:t>IEEE/CVF Conference on Computer Vision and Pattern Recognition (CVPR), 2020</a:t>
            </a:r>
            <a:br>
              <a:rPr lang="en-IN" sz="2000" dirty="0"/>
            </a:br>
            <a:r>
              <a:rPr lang="en-IN" sz="2000" i="1" dirty="0"/>
              <a:t>Foundation for our ADMM-based architecture</a:t>
            </a: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[2] Plug-and-Play ADMM for Image Restoration: Fixed-Point Convergence and Applications</a:t>
            </a:r>
            <a:br>
              <a:rPr lang="en-IN" sz="2000" dirty="0"/>
            </a:br>
            <a:r>
              <a:rPr lang="en-IN" sz="2000" dirty="0"/>
              <a:t>Stanley H. Chan, </a:t>
            </a:r>
            <a:r>
              <a:rPr lang="en-IN" sz="2000" dirty="0" err="1"/>
              <a:t>Xiran</a:t>
            </a:r>
            <a:r>
              <a:rPr lang="en-IN" sz="2000" dirty="0"/>
              <a:t> Wang, Omar A. </a:t>
            </a:r>
            <a:r>
              <a:rPr lang="en-IN" sz="2000" dirty="0" err="1"/>
              <a:t>Elgendy</a:t>
            </a:r>
            <a:br>
              <a:rPr lang="en-IN" sz="2000" dirty="0"/>
            </a:br>
            <a:r>
              <a:rPr lang="en-IN" sz="2000" i="1" dirty="0"/>
              <a:t>IEEE Transactions on Computational Imaging, 2017</a:t>
            </a:r>
            <a:br>
              <a:rPr lang="en-IN" sz="2000" dirty="0"/>
            </a:br>
            <a:r>
              <a:rPr lang="en-IN" sz="2000" i="1" dirty="0"/>
              <a:t>Theoretical basis for ADMM in image restoration</a:t>
            </a: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[3] Image Super-Resolution Using Very Deep Residual Channel Attention Networks</a:t>
            </a:r>
            <a:br>
              <a:rPr lang="en-IN" sz="2000" dirty="0"/>
            </a:br>
            <a:r>
              <a:rPr lang="en-IN" sz="2000" dirty="0" err="1"/>
              <a:t>Yulun</a:t>
            </a:r>
            <a:r>
              <a:rPr lang="en-IN" sz="2000" dirty="0"/>
              <a:t> Zhang, </a:t>
            </a:r>
            <a:r>
              <a:rPr lang="en-IN" sz="2000" dirty="0" err="1"/>
              <a:t>Kunpeng</a:t>
            </a:r>
            <a:r>
              <a:rPr lang="en-IN" sz="2000" dirty="0"/>
              <a:t> Li, Kai Li, et al.</a:t>
            </a:r>
            <a:br>
              <a:rPr lang="en-IN" sz="2000" dirty="0"/>
            </a:br>
            <a:r>
              <a:rPr lang="en-IN" sz="2000" i="1" dirty="0"/>
              <a:t>European Conference on Computer Vision (ECCV), 2018</a:t>
            </a:r>
            <a:br>
              <a:rPr lang="en-IN" sz="2000" dirty="0"/>
            </a:br>
            <a:r>
              <a:rPr lang="en-IN" sz="2000" i="1" dirty="0"/>
              <a:t>RCAN - Baseline for comparison</a:t>
            </a: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[4] ADMM-Net: A Deep Learning Approach for Compressive Sensing MRI</a:t>
            </a:r>
            <a:br>
              <a:rPr lang="en-IN" sz="2000" dirty="0"/>
            </a:br>
            <a:r>
              <a:rPr lang="en-IN" sz="2000" dirty="0"/>
              <a:t>Yan Yang, Jian Sun, </a:t>
            </a:r>
            <a:r>
              <a:rPr lang="en-IN" sz="2000" dirty="0" err="1"/>
              <a:t>Huibin</a:t>
            </a:r>
            <a:r>
              <a:rPr lang="en-IN" sz="2000" dirty="0"/>
              <a:t> Li, </a:t>
            </a:r>
            <a:r>
              <a:rPr lang="en-IN" sz="2000" dirty="0" err="1"/>
              <a:t>Zongben</a:t>
            </a:r>
            <a:r>
              <a:rPr lang="en-IN" sz="2000" dirty="0"/>
              <a:t> Xu</a:t>
            </a:r>
            <a:br>
              <a:rPr lang="en-IN" sz="2000" dirty="0"/>
            </a:br>
            <a:r>
              <a:rPr lang="en-IN" sz="2000" i="1" dirty="0"/>
              <a:t>Advances in Neural Information Processing Systems (</a:t>
            </a:r>
            <a:r>
              <a:rPr lang="en-IN" sz="2000" i="1" dirty="0" err="1"/>
              <a:t>NeurIPS</a:t>
            </a:r>
            <a:r>
              <a:rPr lang="en-IN" sz="2000" i="1" dirty="0"/>
              <a:t>), 2016</a:t>
            </a:r>
            <a:br>
              <a:rPr lang="en-IN" sz="2000" dirty="0"/>
            </a:br>
            <a:r>
              <a:rPr lang="en-IN" sz="2000" i="1" dirty="0"/>
              <a:t>Early deep unfolding network using ADMM</a:t>
            </a: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[5] Learning Deep CNN Denoiser Prior for Image Restoration</a:t>
            </a:r>
            <a:br>
              <a:rPr lang="en-IN" sz="2000" dirty="0"/>
            </a:br>
            <a:r>
              <a:rPr lang="en-IN" sz="2000" dirty="0"/>
              <a:t>Kai Zhang, </a:t>
            </a:r>
            <a:r>
              <a:rPr lang="en-IN" sz="2000" dirty="0" err="1"/>
              <a:t>Wangmeng</a:t>
            </a:r>
            <a:r>
              <a:rPr lang="en-IN" sz="2000" dirty="0"/>
              <a:t> </a:t>
            </a:r>
            <a:r>
              <a:rPr lang="en-IN" sz="2000" dirty="0" err="1"/>
              <a:t>Zuo</a:t>
            </a:r>
            <a:r>
              <a:rPr lang="en-IN" sz="2000" dirty="0"/>
              <a:t>, </a:t>
            </a:r>
            <a:r>
              <a:rPr lang="en-IN" sz="2000" dirty="0" err="1"/>
              <a:t>Shuhang</a:t>
            </a:r>
            <a:r>
              <a:rPr lang="en-IN" sz="2000" dirty="0"/>
              <a:t> Gu, Lei Zhang</a:t>
            </a:r>
            <a:br>
              <a:rPr lang="en-IN" sz="2000" dirty="0"/>
            </a:br>
            <a:r>
              <a:rPr lang="en-IN" sz="2000" i="1" dirty="0"/>
              <a:t>IEEE/CVF Conference on Computer Vision and Pattern Recognition (CVPR), 2017</a:t>
            </a:r>
            <a:br>
              <a:rPr lang="en-IN" sz="2000" dirty="0"/>
            </a:br>
            <a:r>
              <a:rPr lang="en-IN" sz="2000" i="1" dirty="0"/>
              <a:t>IRCNN - Plug-and-play denoising prior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225036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90719-D23B-E259-E27D-DFCC1EF9E2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1255752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416</TotalTime>
  <Words>1001</Words>
  <Application>Microsoft Office PowerPoint</Application>
  <PresentationFormat>Widescreen</PresentationFormat>
  <Paragraphs>167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 Math</vt:lpstr>
      <vt:lpstr>Gill Sans MT</vt:lpstr>
      <vt:lpstr>HelveticaNeue Regular</vt:lpstr>
      <vt:lpstr>Parcel</vt:lpstr>
      <vt:lpstr>PowerPoint Presentation</vt:lpstr>
      <vt:lpstr>Introduction</vt:lpstr>
      <vt:lpstr>problem statement</vt:lpstr>
      <vt:lpstr>Objective</vt:lpstr>
      <vt:lpstr>Literature review</vt:lpstr>
      <vt:lpstr>WORKFLOW (Network architecture)</vt:lpstr>
      <vt:lpstr>WORKFLOW (Network architecture)</vt:lpstr>
      <vt:lpstr>Methodology</vt:lpstr>
      <vt:lpstr>Methodology (Energy function)</vt:lpstr>
      <vt:lpstr>Methodology (Energy function)</vt:lpstr>
      <vt:lpstr>Methodology (Modified energy function)</vt:lpstr>
      <vt:lpstr>Methodology (ADMM Steps)</vt:lpstr>
      <vt:lpstr>Methodology (ADMM Steps)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 S</dc:creator>
  <cp:lastModifiedBy>N S</cp:lastModifiedBy>
  <cp:revision>29</cp:revision>
  <dcterms:created xsi:type="dcterms:W3CDTF">2025-12-21T16:13:45Z</dcterms:created>
  <dcterms:modified xsi:type="dcterms:W3CDTF">2026-01-24T04:27:10Z</dcterms:modified>
</cp:coreProperties>
</file>